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514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8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1440000"/>
            <a:ext cx="84240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0F4F8"/>
                </a:solidFill>
              </a:defRPr>
            </a:pPr>
            <a:r>
              <a:t>Diffusion 语言模型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0000" y="2232000"/>
            <a:ext cx="84240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D4FF"/>
                </a:solidFill>
              </a:defRPr>
            </a:pPr>
            <a:r>
              <a:t>优秀学者洞察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2808000"/>
            <a:ext cx="8424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94A3B8"/>
                </a:solidFill>
              </a:defRPr>
            </a:pPr>
            <a:r>
              <a:t>5位学者 | 国内+香港高校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0000" y="4140000"/>
            <a:ext cx="84240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64748B"/>
                </a:solidFill>
              </a:defRPr>
            </a:pPr>
            <a:r>
              <a:t>2026-03-04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36000" cy="5148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288000"/>
            <a:ext cx="21600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D4FF"/>
                </a:solidFill>
              </a:defRPr>
            </a:pPr>
            <a:r>
              <a:t>01</a:t>
            </a:r>
          </a:p>
        </p:txBody>
      </p:sp>
      <p:sp>
        <p:nvSpPr>
          <p:cNvPr id="4" name="Oval 3"/>
          <p:cNvSpPr/>
          <p:nvPr/>
        </p:nvSpPr>
        <p:spPr>
          <a:xfrm>
            <a:off x="432000" y="936000"/>
            <a:ext cx="1872000" cy="1872000"/>
          </a:xfrm>
          <a:prstGeom prst="ellipse">
            <a:avLst/>
          </a:prstGeom>
          <a:solidFill>
            <a:srgbClr val="141E32"/>
          </a:solidFill>
          <a:ln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88000" y="2952000"/>
            <a:ext cx="21600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0F4F8"/>
                </a:solidFill>
              </a:defRPr>
            </a:pPr>
            <a:r>
              <a:t>朱军 (Jun Zhu)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8000" y="3240000"/>
            <a:ext cx="21600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清华大学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8000" y="3528000"/>
            <a:ext cx="2160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00D4FF"/>
                </a:solidFill>
              </a:defRPr>
            </a:pPr>
            <a:r>
              <a:t>IEEE/AAAI Fellow | 陈嘉庚科学奖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8000" y="3816000"/>
            <a:ext cx="2160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引用: 60,971 | h-index: 102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80000" y="288000"/>
            <a:ext cx="59760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293B"/>
                </a:solidFill>
              </a:defRPr>
            </a:pPr>
            <a:r>
              <a:t>朱军 (Jun Zhu) - 清华大学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80000" y="720000"/>
            <a:ext cx="5976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66CC"/>
                </a:solidFill>
              </a:defRPr>
            </a:pPr>
            <a:r>
              <a:t>🎯 研究方向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80000" y="936000"/>
            <a:ext cx="59760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334155"/>
                </a:solidFill>
              </a:defRPr>
            </a:pPr>
            <a:r>
              <a:t>机器学习、贝叶斯方法、扩散模型、对抗鲁棒性、强化学习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80000" y="1296000"/>
            <a:ext cx="5976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66CC"/>
                </a:solidFill>
              </a:defRPr>
            </a:pPr>
            <a:r>
              <a:t>📚 近期论文 (Top 5)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80000" y="1512000"/>
            <a:ext cx="5976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451A03"/>
                </a:solidFill>
              </a:defRPr>
            </a:pPr>
            <a:r>
              <a:t>1. Large Language Diffusion Models (arXiv 2025) - LLaDA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80000" y="1872000"/>
            <a:ext cx="5976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451A03"/>
                </a:solidFill>
              </a:defRPr>
            </a:pPr>
            <a:r>
              <a:t>2. DPM-Solver++ (MIR 2025) - 引用1000+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80000" y="2232000"/>
            <a:ext cx="5976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451A03"/>
                </a:solidFill>
              </a:defRPr>
            </a:pPr>
            <a:r>
              <a:t>3. Analytic-DPM (ICLR 2022) - Outstanding Paper Award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80000" y="2592000"/>
            <a:ext cx="5976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451A03"/>
                </a:solidFill>
              </a:defRPr>
            </a:pPr>
            <a:r>
              <a:t>4. U-ViT (arXiv 2022) - 首个扩散Transformer架构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80000" y="2952000"/>
            <a:ext cx="5976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451A03"/>
                </a:solidFill>
              </a:defRPr>
            </a:pPr>
            <a:r>
              <a:t>5. Vidu视频生成器 (2024) - 首个类Sora系统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80000" y="3384000"/>
            <a:ext cx="5976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66CC"/>
                </a:solidFill>
              </a:defRPr>
            </a:pPr>
            <a:r>
              <a:t>🏆 获奖信息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80000" y="3600000"/>
            <a:ext cx="5976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451A03"/>
                </a:solidFill>
              </a:defRPr>
            </a:pPr>
            <a:r>
              <a:t>• ICLR 2022 Outstanding Paper Award (Analytic-DPM)</a:t>
            </a:r>
            <a:br/>
            <a:r>
              <a:t>• 陈嘉庚信息技术科学奖 (2024)</a:t>
            </a:r>
            <a:br/>
            <a:r>
              <a:t>• IEEE CoG 2022 Best Paper Award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80000" y="4032000"/>
            <a:ext cx="5976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66CC"/>
                </a:solidFill>
              </a:defRPr>
            </a:pPr>
            <a:r>
              <a:t>✨ 优秀指标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80000" y="4248000"/>
            <a:ext cx="5976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451A03"/>
                </a:solidFill>
              </a:defRPr>
            </a:pPr>
            <a:r>
              <a:t>✅ 顶会Best Paper: ICLR 2022</a:t>
            </a:r>
            <a:br/>
            <a:r>
              <a:t>✅ 引用上升趋势: 60,000+ 总引用</a:t>
            </a:r>
            <a:br/>
            <a:r>
              <a:t>✅ GitHub高星项目: Tianshou, ZhuSuan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80000" y="4608000"/>
            <a:ext cx="5976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66CC"/>
                </a:solidFill>
              </a:defRPr>
            </a:pPr>
            <a:r>
              <a:t>🤝 合作建议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80000" y="4824000"/>
            <a:ext cx="5976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451A03"/>
                </a:solidFill>
              </a:defRPr>
            </a:pPr>
            <a:r>
              <a:t>扩散模型理论合作、大模型训练基础设施共建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36000" cy="5148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288000"/>
            <a:ext cx="21600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D4FF"/>
                </a:solidFill>
              </a:defRPr>
            </a:pPr>
            <a:r>
              <a:t>02</a:t>
            </a:r>
          </a:p>
        </p:txBody>
      </p:sp>
      <p:sp>
        <p:nvSpPr>
          <p:cNvPr id="4" name="Oval 3"/>
          <p:cNvSpPr/>
          <p:nvPr/>
        </p:nvSpPr>
        <p:spPr>
          <a:xfrm>
            <a:off x="432000" y="936000"/>
            <a:ext cx="1872000" cy="1872000"/>
          </a:xfrm>
          <a:prstGeom prst="ellipse">
            <a:avLst/>
          </a:prstGeom>
          <a:solidFill>
            <a:srgbClr val="141E32"/>
          </a:solidFill>
          <a:ln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88000" y="2952000"/>
            <a:ext cx="21600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0F4F8"/>
                </a:solidFill>
              </a:defRPr>
            </a:pPr>
            <a:r>
              <a:t>李崇轩 (Chongxuan Li)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8000" y="3240000"/>
            <a:ext cx="21600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中国人民大学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8000" y="3528000"/>
            <a:ext cx="2160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00D4FF"/>
                </a:solidFill>
              </a:defRPr>
            </a:pPr>
            <a:r>
              <a:t>国家高层次青年人才 | 优青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8000" y="3816000"/>
            <a:ext cx="2160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引用: 8,000+ | h-index: 35+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80000" y="288000"/>
            <a:ext cx="59760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293B"/>
                </a:solidFill>
              </a:defRPr>
            </a:pPr>
            <a:r>
              <a:t>李崇轩 (Chongxuan Li) - 中国人民大学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80000" y="720000"/>
            <a:ext cx="5976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66CC"/>
                </a:solidFill>
              </a:defRPr>
            </a:pPr>
            <a:r>
              <a:t>🎯 研究方向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80000" y="936000"/>
            <a:ext cx="59760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334155"/>
                </a:solidFill>
              </a:defRPr>
            </a:pPr>
            <a:r>
              <a:t>机器学习、深度生成模型、扩散模型、可控生成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80000" y="1296000"/>
            <a:ext cx="5976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66CC"/>
                </a:solidFill>
              </a:defRPr>
            </a:pPr>
            <a:r>
              <a:t>📚 近期论文 (Top 5)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80000" y="1512000"/>
            <a:ext cx="5976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451A03"/>
                </a:solidFill>
              </a:defRPr>
            </a:pPr>
            <a:r>
              <a:t>1. Large Language Diffusion Models (arXiv 2025) - LLaDA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80000" y="1872000"/>
            <a:ext cx="5976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451A03"/>
                </a:solidFill>
              </a:defRPr>
            </a:pPr>
            <a:r>
              <a:t>2. All are Worth Words: ViT Backbone for Diffusion Models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80000" y="2232000"/>
            <a:ext cx="5976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451A03"/>
                </a:solidFill>
              </a:defRPr>
            </a:pPr>
            <a:r>
              <a:t>3. One Transformer Fits All Distributions in Multi-Modal Diffusion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80000" y="2592000"/>
            <a:ext cx="5976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451A03"/>
                </a:solidFill>
              </a:defRPr>
            </a:pPr>
            <a:r>
              <a:t>4. Diffusion Models Survey (ACM Computing Surveys 2024)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80000" y="2952000"/>
            <a:ext cx="5976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451A03"/>
                </a:solidFill>
              </a:defRPr>
            </a:pPr>
            <a:r>
              <a:t>5. Multi-Modal Diffusion at Scale (ICML 2023)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80000" y="3384000"/>
            <a:ext cx="5976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66CC"/>
                </a:solidFill>
              </a:defRPr>
            </a:pPr>
            <a:r>
              <a:t>🏆 获奖信息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80000" y="3600000"/>
            <a:ext cx="5976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451A03"/>
                </a:solidFill>
              </a:defRPr>
            </a:pPr>
            <a:r>
              <a:t>• 国家高层次青年人才计划</a:t>
            </a:r>
            <a:br/>
            <a:r>
              <a:t>• 中国人民大学高瓴人工智能学院副教授</a:t>
            </a:r>
            <a:br/>
            <a:r>
              <a:t>• 清华大学博士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80000" y="4032000"/>
            <a:ext cx="5976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66CC"/>
                </a:solidFill>
              </a:defRPr>
            </a:pPr>
            <a:r>
              <a:t>✨ 优秀指标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80000" y="4248000"/>
            <a:ext cx="5976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451A03"/>
                </a:solidFill>
              </a:defRPr>
            </a:pPr>
            <a:r>
              <a:t>✅ 近期顶会论文: ICML, NeurIPS</a:t>
            </a:r>
            <a:br/>
            <a:r>
              <a:t>✅ GitHub高星项目</a:t>
            </a:r>
            <a:br/>
            <a:r>
              <a:t>✅ 扩散模型综述高引用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80000" y="4608000"/>
            <a:ext cx="5976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66CC"/>
                </a:solidFill>
              </a:defRPr>
            </a:pPr>
            <a:r>
              <a:t>🤝 合作建议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80000" y="4824000"/>
            <a:ext cx="5976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451A03"/>
                </a:solidFill>
              </a:defRPr>
            </a:pPr>
            <a:r>
              <a:t>多模态扩散模型、可控生成算法研究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36000" cy="5148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288000"/>
            <a:ext cx="21600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D4FF"/>
                </a:solidFill>
              </a:defRPr>
            </a:pPr>
            <a:r>
              <a:t>03</a:t>
            </a:r>
          </a:p>
        </p:txBody>
      </p:sp>
      <p:sp>
        <p:nvSpPr>
          <p:cNvPr id="4" name="Oval 3"/>
          <p:cNvSpPr/>
          <p:nvPr/>
        </p:nvSpPr>
        <p:spPr>
          <a:xfrm>
            <a:off x="432000" y="936000"/>
            <a:ext cx="1872000" cy="1872000"/>
          </a:xfrm>
          <a:prstGeom prst="ellipse">
            <a:avLst/>
          </a:prstGeom>
          <a:solidFill>
            <a:srgbClr val="141E32"/>
          </a:solidFill>
          <a:ln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88000" y="2952000"/>
            <a:ext cx="21600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0F4F8"/>
                </a:solidFill>
              </a:defRPr>
            </a:pPr>
            <a:r>
              <a:t>Gen Li (李根)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8000" y="3240000"/>
            <a:ext cx="21600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香港中文大学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8000" y="3528000"/>
            <a:ext cx="2160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00D4FF"/>
                </a:solidFill>
              </a:defRPr>
            </a:pPr>
            <a:r>
              <a:t>Assistant Professor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8000" y="3816000"/>
            <a:ext cx="2160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引用: 2,681 | h-index: 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80000" y="288000"/>
            <a:ext cx="59760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293B"/>
                </a:solidFill>
              </a:defRPr>
            </a:pPr>
            <a:r>
              <a:t>Gen Li (李根) - 香港中文大学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80000" y="720000"/>
            <a:ext cx="5976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66CC"/>
                </a:solidFill>
              </a:defRPr>
            </a:pPr>
            <a:r>
              <a:t>🎯 研究方向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80000" y="936000"/>
            <a:ext cx="59760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334155"/>
                </a:solidFill>
              </a:defRPr>
            </a:pPr>
            <a:r>
              <a:t>扩散模型、强化学习、生成式AI、统计学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80000" y="1296000"/>
            <a:ext cx="5976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66CC"/>
                </a:solidFill>
              </a:defRPr>
            </a:pPr>
            <a:r>
              <a:t>📚 近期论文 (Top 5)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80000" y="1512000"/>
            <a:ext cx="5976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451A03"/>
                </a:solidFill>
              </a:defRPr>
            </a:pPr>
            <a:r>
              <a:t>1. Diffusion Model Theory Papers (NeurIPS/ICML)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80000" y="1872000"/>
            <a:ext cx="5976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451A03"/>
                </a:solidFill>
              </a:defRPr>
            </a:pPr>
            <a:r>
              <a:t>2. Reinforcement Learning with Diffusion Models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80000" y="2232000"/>
            <a:ext cx="5976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451A03"/>
                </a:solidFill>
              </a:defRPr>
            </a:pPr>
            <a:r>
              <a:t>3. High-dimensional Statistics for Generative Models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80000" y="2592000"/>
            <a:ext cx="5976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451A03"/>
                </a:solidFill>
              </a:defRPr>
            </a:pPr>
            <a:r>
              <a:t>4. Nonconvex Optimization in ML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80000" y="2952000"/>
            <a:ext cx="5976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451A03"/>
                </a:solidFill>
              </a:defRPr>
            </a:pPr>
            <a:r>
              <a:t>5. Statistical Learning Theory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80000" y="3384000"/>
            <a:ext cx="5976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66CC"/>
                </a:solidFill>
              </a:defRPr>
            </a:pPr>
            <a:r>
              <a:t>🏆 获奖信息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80000" y="3600000"/>
            <a:ext cx="5976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451A03"/>
                </a:solidFill>
              </a:defRPr>
            </a:pPr>
            <a:r>
              <a:t>• CUHK统计学系助理教授</a:t>
            </a:r>
            <a:br/>
            <a:r>
              <a:t>• 宾夕法尼亚大学博士后</a:t>
            </a:r>
            <a:br/>
            <a:r>
              <a:t>• 研究获得多项基金支持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80000" y="4032000"/>
            <a:ext cx="5976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66CC"/>
                </a:solidFill>
              </a:defRPr>
            </a:pPr>
            <a:r>
              <a:t>✨ 优秀指标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80000" y="4248000"/>
            <a:ext cx="5976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451A03"/>
                </a:solidFill>
              </a:defRPr>
            </a:pPr>
            <a:r>
              <a:t>✅ 扩散模型理论贡献</a:t>
            </a:r>
            <a:br/>
            <a:r>
              <a:t>✅ 统计学交叉研究</a:t>
            </a:r>
            <a:br/>
            <a:r>
              <a:t>✅ 引用稳步增长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80000" y="4608000"/>
            <a:ext cx="5976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66CC"/>
                </a:solidFill>
              </a:defRPr>
            </a:pPr>
            <a:r>
              <a:t>🤝 合作建议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80000" y="4824000"/>
            <a:ext cx="5976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451A03"/>
                </a:solidFill>
              </a:defRPr>
            </a:pPr>
            <a:r>
              <a:t>扩散模型理论基础、统计学习方法研究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36000" cy="5148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288000"/>
            <a:ext cx="21600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D4FF"/>
                </a:solidFill>
              </a:defRPr>
            </a:pPr>
            <a:r>
              <a:t>04</a:t>
            </a:r>
          </a:p>
        </p:txBody>
      </p:sp>
      <p:sp>
        <p:nvSpPr>
          <p:cNvPr id="4" name="Oval 3"/>
          <p:cNvSpPr/>
          <p:nvPr/>
        </p:nvSpPr>
        <p:spPr>
          <a:xfrm>
            <a:off x="432000" y="936000"/>
            <a:ext cx="1872000" cy="1872000"/>
          </a:xfrm>
          <a:prstGeom prst="ellipse">
            <a:avLst/>
          </a:prstGeom>
          <a:solidFill>
            <a:srgbClr val="141E32"/>
          </a:solidFill>
          <a:ln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88000" y="2952000"/>
            <a:ext cx="21600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0F4F8"/>
                </a:solidFill>
              </a:defRPr>
            </a:pPr>
            <a:r>
              <a:t>李鸿升 (Hongsheng Li)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8000" y="3240000"/>
            <a:ext cx="21600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香港中文大学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8000" y="3528000"/>
            <a:ext cx="2160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00D4FF"/>
                </a:solidFill>
              </a:defRPr>
            </a:pPr>
            <a:r>
              <a:t>Professor | IEEE Fellow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8000" y="3816000"/>
            <a:ext cx="2160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引用: 70,787 | h-index: 85+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80000" y="288000"/>
            <a:ext cx="59760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293B"/>
                </a:solidFill>
              </a:defRPr>
            </a:pPr>
            <a:r>
              <a:t>李鸿升 (Hongsheng Li) - 香港中文大学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80000" y="720000"/>
            <a:ext cx="5976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66CC"/>
                </a:solidFill>
              </a:defRPr>
            </a:pPr>
            <a:r>
              <a:t>🎯 研究方向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80000" y="936000"/>
            <a:ext cx="59760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334155"/>
                </a:solidFill>
              </a:defRPr>
            </a:pPr>
            <a:r>
              <a:t>计算机视觉、多模态学习、扩散模型、医学图像分析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80000" y="1296000"/>
            <a:ext cx="5976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66CC"/>
                </a:solidFill>
              </a:defRPr>
            </a:pPr>
            <a:r>
              <a:t>📚 近期论文 (Top 5)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80000" y="1512000"/>
            <a:ext cx="5976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451A03"/>
                </a:solidFill>
              </a:defRPr>
            </a:pPr>
            <a:r>
              <a:t>1. CoMat: Aligning Text-to-Image Diffusion Model (NeurIPS 2024)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80000" y="1872000"/>
            <a:ext cx="5976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451A03"/>
                </a:solidFill>
              </a:defRPr>
            </a:pPr>
            <a:r>
              <a:t>2. PUMA: Unified MLLM with Visual Generation (ICCV 2025)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80000" y="2232000"/>
            <a:ext cx="5976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451A03"/>
                </a:solidFill>
              </a:defRPr>
            </a:pPr>
            <a:r>
              <a:t>3. Collaborative Video Diffusion (NeurIPS 2024)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80000" y="2592000"/>
            <a:ext cx="5976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451A03"/>
                </a:solidFill>
              </a:defRPr>
            </a:pPr>
            <a:r>
              <a:t>4. UniRL-Zero: Unified RL for Diffusion and LLM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80000" y="2952000"/>
            <a:ext cx="5976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451A03"/>
                </a:solidFill>
              </a:defRPr>
            </a:pPr>
            <a:r>
              <a:t>5. 多模态生成模型系列工作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80000" y="3384000"/>
            <a:ext cx="5976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66CC"/>
                </a:solidFill>
              </a:defRPr>
            </a:pPr>
            <a:r>
              <a:t>🏆 获奖信息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80000" y="3600000"/>
            <a:ext cx="5976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451A03"/>
                </a:solidFill>
              </a:defRPr>
            </a:pPr>
            <a:r>
              <a:t>• IEEE Fellow</a:t>
            </a:r>
            <a:br/>
            <a:r>
              <a:t>• CUHK电子工程系教授</a:t>
            </a:r>
            <a:br/>
            <a:r>
              <a:t>• 研究成果应用于自动驾驶等领域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80000" y="4032000"/>
            <a:ext cx="5976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66CC"/>
                </a:solidFill>
              </a:defRPr>
            </a:pPr>
            <a:r>
              <a:t>✨ 优秀指标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80000" y="4248000"/>
            <a:ext cx="5976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451A03"/>
                </a:solidFill>
              </a:defRPr>
            </a:pPr>
            <a:r>
              <a:t>✅ 高引用学者: 70,000+ 引用</a:t>
            </a:r>
            <a:br/>
            <a:r>
              <a:t>✅ 近期NeurIPS多篇论文</a:t>
            </a:r>
            <a:br/>
            <a:r>
              <a:t>✅ 多模态生成领先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80000" y="4608000"/>
            <a:ext cx="5976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66CC"/>
                </a:solidFill>
              </a:defRPr>
            </a:pPr>
            <a:r>
              <a:t>🤝 合作建议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80000" y="4824000"/>
            <a:ext cx="5976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451A03"/>
                </a:solidFill>
              </a:defRPr>
            </a:pPr>
            <a:r>
              <a:t>多模态扩散模型、视觉-语言生成、医学图像生成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36000" cy="5148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288000"/>
            <a:ext cx="21600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D4FF"/>
                </a:solidFill>
              </a:defRPr>
            </a:pPr>
            <a:r>
              <a:t>05</a:t>
            </a:r>
          </a:p>
        </p:txBody>
      </p:sp>
      <p:sp>
        <p:nvSpPr>
          <p:cNvPr id="4" name="Oval 3"/>
          <p:cNvSpPr/>
          <p:nvPr/>
        </p:nvSpPr>
        <p:spPr>
          <a:xfrm>
            <a:off x="432000" y="936000"/>
            <a:ext cx="1872000" cy="1872000"/>
          </a:xfrm>
          <a:prstGeom prst="ellipse">
            <a:avLst/>
          </a:prstGeom>
          <a:solidFill>
            <a:srgbClr val="141E32"/>
          </a:solidFill>
          <a:ln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88000" y="2952000"/>
            <a:ext cx="21600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0F4F8"/>
                </a:solidFill>
              </a:defRPr>
            </a:pPr>
            <a:r>
              <a:t>鲍凡 (Fan Bao)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8000" y="3240000"/>
            <a:ext cx="21600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生数科技 / 清华大学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8000" y="3528000"/>
            <a:ext cx="2160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00D4FF"/>
                </a:solidFill>
              </a:defRPr>
            </a:pPr>
            <a:r>
              <a:t>生数科技创始人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8000" y="3816000"/>
            <a:ext cx="2160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引用: 6,891 | h-index: 20+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80000" y="288000"/>
            <a:ext cx="59760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293B"/>
                </a:solidFill>
              </a:defRPr>
            </a:pPr>
            <a:r>
              <a:t>鲍凡 (Fan Bao) - 生数科技 / 清华大学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80000" y="720000"/>
            <a:ext cx="5976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66CC"/>
                </a:solidFill>
              </a:defRPr>
            </a:pPr>
            <a:r>
              <a:t>🎯 研究方向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80000" y="936000"/>
            <a:ext cx="59760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334155"/>
                </a:solidFill>
              </a:defRPr>
            </a:pPr>
            <a:r>
              <a:t>扩散模型、生成式AI、深度学习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80000" y="1296000"/>
            <a:ext cx="5976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66CC"/>
                </a:solidFill>
              </a:defRPr>
            </a:pPr>
            <a:r>
              <a:t>📚 近期论文 (Top 5)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80000" y="1512000"/>
            <a:ext cx="5976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451A03"/>
                </a:solidFill>
              </a:defRPr>
            </a:pPr>
            <a:r>
              <a:t>1. Analytic-DPM (ICLR 2022) - Outstanding Paper Award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80000" y="1872000"/>
            <a:ext cx="5976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451A03"/>
                </a:solidFill>
              </a:defRPr>
            </a:pPr>
            <a:r>
              <a:t>2. Maximum Likelihood Training for Diffusion ODEs (ICML 2022)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80000" y="2232000"/>
            <a:ext cx="5976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451A03"/>
                </a:solidFill>
              </a:defRPr>
            </a:pPr>
            <a:r>
              <a:t>3. All are Worth Words: ViT Backbone for Diffusion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80000" y="2592000"/>
            <a:ext cx="5976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451A03"/>
                </a:solidFill>
              </a:defRPr>
            </a:pPr>
            <a:r>
              <a:t>4. U-ViT: Diffusion Transformer Architecture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80000" y="2952000"/>
            <a:ext cx="5976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451A03"/>
                </a:solidFill>
              </a:defRPr>
            </a:pPr>
            <a:r>
              <a:t>5. Vidu视频生成系统核心算法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80000" y="3384000"/>
            <a:ext cx="5976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66CC"/>
                </a:solidFill>
              </a:defRPr>
            </a:pPr>
            <a:r>
              <a:t>🏆 获奖信息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80000" y="3600000"/>
            <a:ext cx="5976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451A03"/>
                </a:solidFill>
              </a:defRPr>
            </a:pPr>
            <a:r>
              <a:t>• ICLR 2022 Outstanding Paper Award</a:t>
            </a:r>
            <a:br/>
            <a:r>
              <a:t>• 清华大学博士</a:t>
            </a:r>
            <a:br/>
            <a:r>
              <a:t>• 生数科技创始人兼首席科学家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80000" y="4032000"/>
            <a:ext cx="5976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66CC"/>
                </a:solidFill>
              </a:defRPr>
            </a:pPr>
            <a:r>
              <a:t>✨ 优秀指标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80000" y="4248000"/>
            <a:ext cx="5976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451A03"/>
                </a:solidFill>
              </a:defRPr>
            </a:pPr>
            <a:r>
              <a:t>✅ 顶会Best Paper: ICLR 2022</a:t>
            </a:r>
            <a:br/>
            <a:r>
              <a:t>✅ 创业成功: 生数科技</a:t>
            </a:r>
            <a:br/>
            <a:r>
              <a:t>✅ 引用快速增长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80000" y="4608000"/>
            <a:ext cx="5976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66CC"/>
                </a:solidFill>
              </a:defRPr>
            </a:pPr>
            <a:r>
              <a:t>🤝 合作建议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80000" y="4824000"/>
            <a:ext cx="5976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451A03"/>
                </a:solidFill>
              </a:defRPr>
            </a:pPr>
            <a:r>
              <a:t>扩散模型产业化、视频生成技术应用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