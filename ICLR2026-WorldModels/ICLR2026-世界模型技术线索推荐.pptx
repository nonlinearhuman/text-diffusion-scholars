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0"/>
            <a:ext cx="8424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0F4F8"/>
                </a:solidFill>
              </a:defRPr>
            </a:pPr>
            <a:r>
              <a:t>ICLR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2232000"/>
            <a:ext cx="8424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</a:defRPr>
            </a:pPr>
            <a:r>
              <a:t>技术线索推荐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2808000"/>
            <a:ext cx="8424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4A3B8"/>
                </a:solidFill>
              </a:defRPr>
            </a:pPr>
            <a:r>
              <a:t>方向：世界模型 (World Models)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140000"/>
            <a:ext cx="8424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面向大模型技术专家与领导层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36000" cy="514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88000"/>
            <a:ext cx="21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>
                    <a:lumMod val="40000"/>
                    <a:lumOff val="60000"/>
                  </a:srgbClr>
                </a:solidFill>
              </a:defRPr>
            </a:pPr>
            <a:r>
              <a:t>01</a:t>
            </a:r>
          </a:p>
        </p:txBody>
      </p:sp>
      <p:pic>
        <p:nvPicPr>
          <p:cNvPr id="4" name="Picture 3" descr="woo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936000"/>
            <a:ext cx="1008000" cy="12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8000" y="2268000"/>
            <a:ext cx="21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0F4F8"/>
                </a:solidFill>
              </a:defRPr>
            </a:pPr>
            <a:r>
              <a:t>Honguk Woo 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2484000"/>
            <a:ext cx="21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成均馆大学 (SKKU)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2736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毕业院校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2880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UT Austin 博士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3096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研究方向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3240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具身智能、世界模型、自适应学习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3528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论文链接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3672000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00D4FF"/>
                </a:solidFill>
              </a:defRPr>
            </a:pPr>
            <a:r>
              <a:t>arxiv.org/abs/2601.22647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3960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近两年代表论文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" y="4104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t>→ Incremental Learning of Skills (NeurIPS 2024)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00" y="4320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t>→ Embodied CoT Distillation (2024)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00" y="4536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t>→ Global DAG Task Scheduler (2021)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000" y="288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Test-Time Mixture of World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000" y="648000"/>
            <a:ext cx="5976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TMoW: 动态环境下的具身智能自适应框架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000" y="1008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💡 核心创新点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000" y="1224000"/>
            <a:ext cx="597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4155"/>
                </a:solidFill>
              </a:defRPr>
            </a:pPr>
            <a:r>
              <a:t>提出TMoW框架，将MoE扩展到具身智能体。支持测试时动态更新路由函数，实现多粒度原型路由、测试时精炼和蒸馏混合增强。在VirtualHome、ALFWorld、RLBench上验证了强大的零样本适应能力，比SayCanPay提升27.21%。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000" y="2016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📊 论文配图</a:t>
            </a:r>
          </a:p>
        </p:txBody>
      </p:sp>
      <p:pic>
        <p:nvPicPr>
          <p:cNvPr id="22" name="Picture 21" descr="tmow_fi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00" y="2232000"/>
            <a:ext cx="2527834" cy="1260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880000" y="3600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🤝 合作交流建议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000" y="3816000"/>
            <a:ext cx="597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● 动态环境下的具身智能应用合作（家庭机器人、仓储物流）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000" y="4068000"/>
            <a:ext cx="597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● 与国内机器人企业合作，将TMoW应用于实际场景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000" y="4320000"/>
            <a:ext cx="597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● 探索在大模型决策系统中的集成应用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36000" cy="514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88000"/>
            <a:ext cx="21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>
                    <a:lumMod val="40000"/>
                    <a:lumOff val="60000"/>
                  </a:srgbClr>
                </a:solidFill>
              </a:defRPr>
            </a:pPr>
            <a:r>
              <a:t>02</a:t>
            </a:r>
          </a:p>
        </p:txBody>
      </p:sp>
      <p:pic>
        <p:nvPicPr>
          <p:cNvPr id="4" name="Picture 3" descr="harada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936000"/>
            <a:ext cx="1008000" cy="12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8000" y="2268000"/>
            <a:ext cx="21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0F4F8"/>
                </a:solidFill>
              </a:defRPr>
            </a:pPr>
            <a:r>
              <a:t>Haruki Abe, Tatsuya Harada 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2484000"/>
            <a:ext cx="21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东京大学 / RIKEN AIP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2736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毕业院校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2880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东京大学博士 (2001)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3096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研究方向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3240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跨具身学习、离线强化学习、机器人控制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3528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论文链接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3672000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00D4FF"/>
                </a:solidFill>
              </a:defRPr>
            </a:pPr>
            <a:r>
              <a:t>arxiv.org/abs/2602.18025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3960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近两年代表论文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" y="4104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t>→ Offline RL for Robotics (CoRL 2025)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00" y="4320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t>→ Multi-Embodiment Transfer (NeurIPS 2024)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00" y="4536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t>→ Visual RL (CVPR 2024)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000" y="288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Cross-Embodiment Offline RL for Heterogeneous Robot Datasets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000" y="648000"/>
            <a:ext cx="5976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异构机器人数据集的跨具身离线强化学习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000" y="1008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💡 核心创新点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000" y="1224000"/>
            <a:ext cx="597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4155"/>
                </a:solidFill>
              </a:defRPr>
            </a:pPr>
            <a:r>
              <a:t>解决跨具身离线RL中如何利用形态各异的机器人数据学习通用控制先验的问题。提出基于形态相似性的分组策略，减少机器人间的梯度冲突，从异构次优轨迹中提取通用控制知识，为具身智能规模化训练提供新路径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000" y="2016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📊 论文配图</a:t>
            </a:r>
          </a:p>
        </p:txBody>
      </p:sp>
      <p:pic>
        <p:nvPicPr>
          <p:cNvPr id="22" name="Picture 21" descr="cross_embodiment_fig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00" y="2232000"/>
            <a:ext cx="1296188" cy="1260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880000" y="3600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🤝 合作交流建议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000" y="3816000"/>
            <a:ext cx="597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● 与国内机器人厂商合作，利用真实产线数据训练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000" y="4068000"/>
            <a:ext cx="597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● 探索在工业机器人、服务机器人中的应用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000" y="4320000"/>
            <a:ext cx="597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● 研究跨具身迁移学习的理论边界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36000" cy="514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88000"/>
            <a:ext cx="21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>
                    <a:lumMod val="40000"/>
                    <a:lumOff val="60000"/>
                  </a:srgbClr>
                </a:solidFill>
              </a:defRPr>
            </a:pPr>
            <a:r>
              <a:t>03</a:t>
            </a:r>
          </a:p>
        </p:txBody>
      </p:sp>
      <p:pic>
        <p:nvPicPr>
          <p:cNvPr id="4" name="Picture 3" descr="harada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936000"/>
            <a:ext cx="1008000" cy="12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8000" y="2268000"/>
            <a:ext cx="21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0F4F8"/>
                </a:solidFill>
              </a:defRPr>
            </a:pPr>
            <a:r>
              <a:t>Naoki Morihira, Tatsuya Harada 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2484000"/>
            <a:ext cx="21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东京大学 / RIKEN AIP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2736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毕业院校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2880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东京大学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3096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研究方向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3240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世界模型、模型强化学习、表征学习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3528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论文链接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3672000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00D4FF"/>
                </a:solidFill>
              </a:defRPr>
            </a:pPr>
            <a:r>
              <a:t>openreview.net (ICLR 2026)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3960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近两年代表论文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" y="4104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t>→ DreamerV3 (Nature 2025)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00" y="4320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t>→ Efficient World Models (ICML 2025)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00" y="4536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t>→ Latent Dynamics (NeurIPS 2024)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000" y="288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R2-Dreamer: Redundancy-Reduced World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000" y="648000"/>
            <a:ext cx="5976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无解码器的冗余减少世界模型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000" y="1008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💡 核心创新点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000" y="1224000"/>
            <a:ext cx="597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4155"/>
                </a:solidFill>
              </a:defRPr>
            </a:pPr>
            <a:r>
              <a:t>提出无需解码器或数据增强的冗余减少世界模型。消除了对解码器的依赖，避免昂贵的数据增强，在计算效率和性能上取得显著改进，为世界模型的实际部署提供更轻量方案。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000" y="2016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📊 论文配图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000" y="3600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🤝 合作交流建议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000" y="3816000"/>
            <a:ext cx="597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● 与自动驾驶公司合作，探索实时决策应用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000" y="4068000"/>
            <a:ext cx="597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● 研究在边缘设备上的部署方案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000" y="4320000"/>
            <a:ext cx="597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● 探索与大型视觉-语言模型的结合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36000" cy="514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88000"/>
            <a:ext cx="21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>
                    <a:lumMod val="40000"/>
                    <a:lumOff val="60000"/>
                  </a:srgbClr>
                </a:solidFill>
              </a:defRPr>
            </a:pPr>
            <a:r>
              <a:t>04</a:t>
            </a:r>
          </a:p>
        </p:txBody>
      </p:sp>
      <p:pic>
        <p:nvPicPr>
          <p:cNvPr id="4" name="Picture 3" descr="harada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936000"/>
            <a:ext cx="1008000" cy="12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8000" y="2268000"/>
            <a:ext cx="21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0F4F8"/>
                </a:solidFill>
              </a:defRPr>
            </a:pPr>
            <a:r>
              <a:t>RIKEN AIP / U-Tokyo 团队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2484000"/>
            <a:ext cx="21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东京大学 / RIKEN AIP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2736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毕业院校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2880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东京大学 / RIKEN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3096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研究方向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3240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离线到在线RL、世界模型、样本效率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3528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论文链接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3672000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00D4FF"/>
                </a:solidFill>
              </a:defRPr>
            </a:pPr>
            <a:r>
              <a:t>openreview.net/forum?id=oBXfPyi47m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3960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近两年代表论文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" y="4104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t>→ Offline-to-Online RL (ICML 2025)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00" y="4320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t>→ World Model Pretraining (NeurIPS 2025)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00" y="4536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t>→ Sample-Efficient RL (ICLR 2025)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000" y="288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Efficient RL by Guiding World Models with Non-Curated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000" y="648000"/>
            <a:ext cx="5976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利用非策划数据提升在线RL样本效率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000" y="1008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💡 核心创新点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000" y="1224000"/>
            <a:ext cx="597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4155"/>
                </a:solidFill>
              </a:defRPr>
            </a:pPr>
            <a:r>
              <a:t>利用非策划数据（无奖励、质量混杂、跨具身）提升在线RL样本效率。提出经验回放和执行引导两种技术，在72个视觉运动任务上达到从头学习基线近两倍的聚合得分。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000" y="2016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📊 论文配图</a:t>
            </a:r>
          </a:p>
        </p:txBody>
      </p:sp>
      <p:pic>
        <p:nvPicPr>
          <p:cNvPr id="22" name="Picture 21" descr="guiding_fi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00" y="2232000"/>
            <a:ext cx="1260000" cy="1260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880000" y="3600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🤝 合作交流建议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000" y="3816000"/>
            <a:ext cx="597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● 利用企业海量无标注视频数据训练世界模型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000" y="4068000"/>
            <a:ext cx="597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● 探索在游戏AI、仿真训练中的应用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000" y="4320000"/>
            <a:ext cx="597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● 研究如何低成本获取大规模预训练数据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36000" cy="514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88000"/>
            <a:ext cx="21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>
                    <a:lumMod val="40000"/>
                    <a:lumOff val="60000"/>
                  </a:srgbClr>
                </a:solidFill>
              </a:defRPr>
            </a:pPr>
            <a:r>
              <a:t>05</a:t>
            </a:r>
          </a:p>
        </p:txBody>
      </p:sp>
      <p:pic>
        <p:nvPicPr>
          <p:cNvPr id="4" name="Picture 3" descr="harada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936000"/>
            <a:ext cx="1008000" cy="12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8000" y="2268000"/>
            <a:ext cx="21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0F4F8"/>
                </a:solidFill>
              </a:defRPr>
            </a:pPr>
            <a:r>
              <a:t>RIKEN AIP / U-Tokyo 团队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2484000"/>
            <a:ext cx="21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东京大学 / RIKEN AIP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2736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毕业院校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2880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东京大学 / RIKEN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3096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研究方向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3240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物理推理、视觉-语言模型、具身智能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3528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论文链接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3672000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00D4FF"/>
                </a:solidFill>
              </a:defRPr>
            </a:pPr>
            <a:r>
              <a:t>openreview.net/forum?id=2Qh9YhuElD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3960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近两年代表论文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" y="4104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t>→ Physical Reasoning Benchmarks (NeurIPS 2025)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00" y="4320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t>→ VLM for Decision Making (ICLR 2025)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00" y="4536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t>→ In-Context RL (ICML 2025)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000" y="288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ICPRL: Acquiring Physical Intuition from Interactive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000" y="648000"/>
            <a:ext cx="5976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从交互控制中获取物理直觉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000" y="1008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💡 核心创新点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000" y="1224000"/>
            <a:ext cx="597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4155"/>
                </a:solidFill>
              </a:defRPr>
            </a:pPr>
            <a:r>
              <a:t>让视觉-语言模型从交互控制中获取物理直觉。采用GRPO方法训练视觉策略模型，结合世界模型提供显式物理推理，通过PUCT搜索选择最优动作，显著提升物理推理能力。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000" y="2016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📊 论文配图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000" y="3600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🤝 合作交流建议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000" y="3816000"/>
            <a:ext cx="597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● 与物理仿真平台合作，构建更多物理推理基准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000" y="4068000"/>
            <a:ext cx="597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● 探索在科学发现、工程仿真中的应用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000" y="4320000"/>
            <a:ext cx="597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● 研究物理直觉与常识推理的结合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